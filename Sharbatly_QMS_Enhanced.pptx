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23"/>
    <p:sldId id="268" r:id="rId14"/>
    <p:sldId id="269" r:id="rId15"/>
    <p:sldId id="274" r:id="rId24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4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6434"/>
            <a:ext cx="2847975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69916"/>
            <a:ext cx="23241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0" y="4569916"/>
            <a:ext cx="2714625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87934"/>
            <a:ext cx="6030753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Outfit"/>
              </a:rPr>
              <a:t>Sharbatly Quality</a:t>
            </a:r>
            <a:r>
              <a:t>
</a:t>
            </a:r>
            <a:r>
              <a:rPr sz="4800" b="1" i="0" u="none">
                <a:solidFill>
                  <a:srgbClr val="FFFFFF"/>
                </a:solidFill>
                <a:latin typeface="Outfit"/>
              </a:rPr>
              <a:t>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81276"/>
            <a:ext cx="7381875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A7F3D0"/>
                </a:solidFill>
                <a:latin typeface="Plus Jakarta Sans"/>
              </a:rPr>
              <a:t>Next-Generation Quality Control &amp; Inspection Platform Replacing QC One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821209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0775"/>
            <a:ext cx="533400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90775"/>
            <a:ext cx="5334000" cy="2790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2743200"/>
            <a:ext cx="446055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Modernizing 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43250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The new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Sharbatly Quality Management System (QMS)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unifies and standardizes fresh produce quality inspections across all regional branches and cold storage facilities.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8621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By replacing legacy paper checklists and standalone systems like QC One, QMS connects every container inspection directly to live SAP shipment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43200"/>
            <a:ext cx="4390548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End-to-End Operational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43250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Follows every fruit shipment seamlessly across five structured milestones: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Container Arrival → Quality Order → Sample Testing → Defect Logging → Executive Approval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98621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Ensures 100% auditability, standardized defect classification, and automated PDF report distribution to key stakeholders.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5272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52725"/>
            <a:ext cx="33337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Centralized Portal: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Unified dashboard replaces standalone QC One tool across all 15+ branches.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Direct SAP Sync: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Inbound shipments automatically populate directly from live SAP 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Real-Time Analytics: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Live tracking of open inspections, defect percentages, and daily throughput.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Queue Visibility: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Immediate highlights for pending container arrivals across cold storage plants.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System Overview &amp; Dashboard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291072" y="157276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Live Operations Dashboard</a:t>
            </a:r>
          </a:p>
        </p:txBody>
      </p:sp>
      <p:sp>
        <p:nvSpPr>
          <p:cNvPr id="902" name="Card 902"/>
          <p:cNvSpPr/>
          <p:nvPr/>
        </p:nvSpPr>
        <p:spPr>
          <a:xfrm>
            <a:off x="6291072" y="1874520"/>
            <a:ext cx="5330952" cy="370332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294414"/>
            <a:ext cx="5093208" cy="2863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8875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28875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2781300"/>
            <a:ext cx="446055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Core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8135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Standardized Inspections: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Apply uniform quality benchmarks across all regional cold storage hubs.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743325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Eliminate Manual Entry: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Replace paper checklists by pulling live SAP container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30530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Single Source of Truth: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Centralize inspection records and photos in </a:t>
            </a:r>
            <a:r>
              <a:rPr sz="1275" b="0" i="1" u="none">
                <a:solidFill>
                  <a:srgbClr val="475569"/>
                </a:solidFill>
                <a:latin typeface="Plus Jakarta Sans"/>
              </a:rPr>
              <a:t>Sharbatly_MIS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9925" y="2781300"/>
            <a:ext cx="446055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59669"/>
                </a:solidFill>
                <a:latin typeface="Outfit SemiBold"/>
              </a:rPr>
              <a:t>Value Realized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18135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Faster Turnaround: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Accelerate inspection cycles and gate entry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743325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Actionable Analytics: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Clean, comparable defect data across vendors and origin countries.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30530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Full Traceability: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Complete audit logs tracking user actions and timestamped decisions.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90825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90825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Objectives &amp; Key Benefits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7013448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Web-Based Platform: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Accessible via any web browser across the company network without setup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6656832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Live OData Integration: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Container numbers, materials, and vendors sync bi-directionally with SAP.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7013448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Active Directory Auth: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Enterprise single sign-on with role-based and plant-level security permissions.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6858000" cy="225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Plus Jakarta Sans"/>
              </a:rPr>
              <a:t>Automated Reporting:</a:t>
            </a:r>
            <a:r>
              <a:rPr sz="1275" b="0" i="0" u="none" dirty="0">
                <a:solidFill>
                  <a:srgbClr val="334155"/>
                </a:solidFill>
                <a:latin typeface="Plus Jakarta Sans"/>
              </a:rPr>
              <a:t> Instant PDF report rendering and automated email distribution to stakeholders.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Platform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270" y="3187154"/>
            <a:ext cx="4191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285" y="3187154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301" y="3187154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16" y="3187154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331" y="3187154"/>
            <a:ext cx="419100" cy="419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3950" y="3396704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780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Pending Containers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Automatic retrieval of arriving containers from SAP inbound queue.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6795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Arrival &amp;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6515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Check in shipment and complete receiving physical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1810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Quality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1530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Open quality order and auto-populate material specifications.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6825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545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Record sample readings, log defect severity, and attach photos.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1841" y="3796754"/>
            <a:ext cx="208822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0F172A"/>
                </a:solidFill>
                <a:latin typeface="Outfit SemiBold"/>
              </a:rPr>
              <a:t>Final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560" y="4072979"/>
            <a:ext cx="19887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Submit for supervisor review, finish order, and generate PDF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End-to-End Workflow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9300"/>
            <a:ext cx="5550693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Arrivals &amp; Gate Control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38425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Outfit SemiBold"/>
              </a:rPr>
              <a:t>Automated Gate Receiving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38475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Receiving Queue: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Arriving containers auto-list from SAP transport bookings for immediate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38550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Mandatory Checklists: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Verify temperature loggers, seal status, and container physical state before unloading.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238625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Stale Arrival Alerts: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Automatic flags for draft containers exceeding 3 days to eliminate receiving bottlenecks.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446520" y="13898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Pending Containers — SAP Queue</a:t>
            </a:r>
          </a:p>
        </p:txBody>
      </p:sp>
      <p:sp>
        <p:nvSpPr>
          <p:cNvPr id="902" name="Card 902"/>
          <p:cNvSpPr/>
          <p:nvPr/>
        </p:nvSpPr>
        <p:spPr>
          <a:xfrm>
            <a:off x="6446520" y="1719072"/>
            <a:ext cx="5394960" cy="379476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166693"/>
            <a:ext cx="5157216" cy="2899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502920" y="384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Outfit"/>
              </a:rPr>
              <a:t>Q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78992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Arrivals &amp; Receiving in Action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78992" y="9144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 u="none">
                <a:solidFill>
                  <a:srgbClr val="64748B"/>
                </a:solidFill>
                <a:latin typeface="Plus Jakarta Sans"/>
              </a:rPr>
              <a:t>From SAP-fed arrival register through the structured receiving checklist.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Arrivals Register</a:t>
            </a:r>
          </a:p>
        </p:txBody>
      </p:sp>
      <p:sp>
        <p:nvSpPr>
          <p:cNvPr id="6" name="Card 6"/>
          <p:cNvSpPr/>
          <p:nvPr/>
        </p:nvSpPr>
        <p:spPr>
          <a:xfrm>
            <a:off x="502920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Screenshot 7" descr="QM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28654"/>
            <a:ext cx="5093208" cy="2863531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339535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Receiving Inspection Checklist</a:t>
            </a:r>
          </a:p>
        </p:txBody>
      </p:sp>
      <p:sp>
        <p:nvSpPr>
          <p:cNvPr id="9" name="Card 9"/>
          <p:cNvSpPr/>
          <p:nvPr/>
        </p:nvSpPr>
        <p:spPr>
          <a:xfrm>
            <a:off x="6339535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Screenshot 10" descr="QM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1768793"/>
            <a:ext cx="5093208" cy="3183255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 u="none">
                <a:solidFill>
                  <a:srgbClr val="94A3B8"/>
                </a:solidFill>
                <a:latin typeface="Plus Jakarta Sans"/>
              </a:rPr>
              <a:t>Live screenshots from the Sharbatly QMS production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Granular Measurements: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Record precise physical metrics including temperature, pressure, firmness, and Brix.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Sample Headers: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Organize readings by pallet, box number, and fruit size for exact statistical 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Auto-Calculations: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System computes defect percentages and automatically suggests pass/fail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Supervisor Pushback: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Reopen or reject orders with explicit field comments for mandatory re-inspection.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23812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Quality Order &amp; Testing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291072" y="157276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Quality Order — Shipment &amp; Samples</a:t>
            </a:r>
          </a:p>
        </p:txBody>
      </p:sp>
      <p:sp>
        <p:nvSpPr>
          <p:cNvPr id="902" name="Card 902"/>
          <p:cNvSpPr/>
          <p:nvPr/>
        </p:nvSpPr>
        <p:spPr>
          <a:xfrm>
            <a:off x="6291072" y="1874520"/>
            <a:ext cx="5330952" cy="370332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134552"/>
            <a:ext cx="5093208" cy="3183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2"/>
          <p:cNvSpPr/>
          <p:nvPr/>
        </p:nvSpPr>
        <p:spPr>
          <a:xfrm>
            <a:off x="502920" y="384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Outfit"/>
              </a:rPr>
              <a:t>Q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78992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Quality Orders &amp; Analytics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78992" y="9144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 u="none">
                <a:solidFill>
                  <a:srgbClr val="64748B"/>
                </a:solidFill>
                <a:latin typeface="Plus Jakarta Sans"/>
              </a:rPr>
              <a:t>Track every quality order and slice defect data through the analytics data hub.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Quality Orders List</a:t>
            </a:r>
          </a:p>
        </p:txBody>
      </p:sp>
      <p:sp>
        <p:nvSpPr>
          <p:cNvPr id="6" name="Card 6"/>
          <p:cNvSpPr/>
          <p:nvPr/>
        </p:nvSpPr>
        <p:spPr>
          <a:xfrm>
            <a:off x="502920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Screenshot 7" descr="QM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28654"/>
            <a:ext cx="5093208" cy="2863531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339535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Data Hub — Defect Analytics</a:t>
            </a:r>
          </a:p>
        </p:txBody>
      </p:sp>
      <p:sp>
        <p:nvSpPr>
          <p:cNvPr id="9" name="Card 9"/>
          <p:cNvSpPr/>
          <p:nvPr/>
        </p:nvSpPr>
        <p:spPr>
          <a:xfrm>
            <a:off x="6339535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Screenshot 10" descr="QM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1928654"/>
            <a:ext cx="5093208" cy="286353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 u="none">
                <a:solidFill>
                  <a:srgbClr val="94A3B8"/>
                </a:solidFill>
                <a:latin typeface="Plus Jakarta Sans"/>
              </a:rPr>
              <a:t>Live screenshots from the Sharbatly QMS production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4987"/>
            <a:ext cx="5550693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Defects &amp; Evidence Capture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852737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Outfit SemiBold"/>
              </a:rPr>
              <a:t>Standardized Defect Catalogues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52787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Structured Defect Logging: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Categorize minor, major, and critical defects directly from pre-defined fruit catalogues.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5286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Photo Attachments: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Capture high-resolution photo evidence attached directly to specific defect line items.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52937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Vendor Claim Evidence: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Timestamped imagery builds irrefutable documentation for supplier dispute settlements.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446520" y="13898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Sample Readings &amp; Defect Grid</a:t>
            </a:r>
          </a:p>
        </p:txBody>
      </p:sp>
      <p:sp>
        <p:nvSpPr>
          <p:cNvPr id="902" name="Card 902"/>
          <p:cNvSpPr/>
          <p:nvPr/>
        </p:nvSpPr>
        <p:spPr>
          <a:xfrm>
            <a:off x="6446520" y="1719072"/>
            <a:ext cx="5394960" cy="379476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004822"/>
            <a:ext cx="5157216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764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Vendor Claims Management: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Raise claims against suppliers directly backed by logged defect percentages.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336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Dynamic Pivot Tables: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Slice quality data by supplier, fruit variety, grower origin, and receiving 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PDF Inspection Certificates: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Generate formal, formatted PDF reports ready for executive distribution.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481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Plus Jakarta Sans"/>
              </a:rPr>
              <a:t>Audit Integrity:</a:t>
            </a:r>
            <a:r>
              <a:rPr sz="1275" b="0" i="0" u="none">
                <a:solidFill>
                  <a:srgbClr val="334155"/>
                </a:solidFill>
                <a:latin typeface="Plus Jakarta Sans"/>
              </a:rPr>
              <a:t> Lock finished reports against unauthorized edits with permanent revision history.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79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2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Claims &amp; Quality Reports</a:t>
            </a:r>
          </a:p>
        </p:txBody>
      </p:sp>
      <p:sp>
        <p:nvSpPr>
          <p:cNvPr id="901" name="Text 901"/>
          <p:cNvSpPr txBox="1"/>
          <p:nvPr/>
        </p:nvSpPr>
        <p:spPr>
          <a:xfrm>
            <a:off x="6291072" y="1572768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Vendor Claims</a:t>
            </a:r>
          </a:p>
        </p:txBody>
      </p:sp>
      <p:sp>
        <p:nvSpPr>
          <p:cNvPr id="902" name="Card 902"/>
          <p:cNvSpPr/>
          <p:nvPr/>
        </p:nvSpPr>
        <p:spPr>
          <a:xfrm>
            <a:off x="6291072" y="1874520"/>
            <a:ext cx="5330952" cy="370332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03" name="Shot 903" descr="QM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294414"/>
            <a:ext cx="5093208" cy="28635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 2"/>
          <p:cNvSpPr/>
          <p:nvPr/>
        </p:nvSpPr>
        <p:spPr>
          <a:xfrm>
            <a:off x="502920" y="384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Outfit"/>
              </a:rPr>
              <a:t>Q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78992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Claims Review &amp; Access Control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78992" y="9144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 u="none">
                <a:solidFill>
                  <a:srgbClr val="64748B"/>
                </a:solidFill>
                <a:latin typeface="Plus Jakarta Sans"/>
              </a:rPr>
              <a:t>Review claims with the live inspection summary, and control who can access each screen.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Claim Review &amp; Live Summary</a:t>
            </a:r>
          </a:p>
        </p:txBody>
      </p:sp>
      <p:sp>
        <p:nvSpPr>
          <p:cNvPr id="6" name="Card 6"/>
          <p:cNvSpPr/>
          <p:nvPr/>
        </p:nvSpPr>
        <p:spPr>
          <a:xfrm>
            <a:off x="502920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339535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Users, Roles &amp; Permissions</a:t>
            </a:r>
          </a:p>
        </p:txBody>
      </p:sp>
      <p:sp>
        <p:nvSpPr>
          <p:cNvPr id="9" name="Card 9"/>
          <p:cNvSpPr/>
          <p:nvPr/>
        </p:nvSpPr>
        <p:spPr>
          <a:xfrm>
            <a:off x="6339535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 u="none">
                <a:solidFill>
                  <a:srgbClr val="94A3B8"/>
                </a:solidFill>
                <a:latin typeface="Plus Jakarta Sans"/>
              </a:rPr>
              <a:t>Live screenshots from the Sharbatly QMS production system.</a:t>
            </a:r>
          </a:p>
        </p:txBody>
      </p:sp>
      <p:pic>
        <p:nvPicPr>
          <p:cNvPr id="12" name="Picture 11" descr="claim-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928654"/>
            <a:ext cx="5093208" cy="2863531"/>
          </a:xfrm>
          <a:prstGeom prst="rect">
            <a:avLst/>
          </a:prstGeom>
        </p:spPr>
      </p:pic>
      <p:pic>
        <p:nvPicPr>
          <p:cNvPr id="13" name="Picture 12" descr="admin-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551" y="1928654"/>
            <a:ext cx="5093208" cy="28635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9306"/>
            <a:ext cx="11049000" cy="343376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147507"/>
              </p:ext>
            </p:extLst>
          </p:nvPr>
        </p:nvGraphicFramePr>
        <p:xfrm>
          <a:off x="581025" y="2078831"/>
          <a:ext cx="11029947" cy="341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11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User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Primary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Arrivals &amp; Checklists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Quality Inspections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Approvals &amp; Reopen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Read-only monitoring &amp; 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Inspectors conducting field tests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Create &amp; Edit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Inspect &amp; Submit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Quality review &amp; gate approvals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Review &amp; Edit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Finish / Reject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Executive oversight &amp; audit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Full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Approve / Reopen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122"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Vendor claims &amp; dispute settlement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Read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Plus Jakarta Sans"/>
                        </a:rPr>
                        <a:t>Manage Claims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07468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93862" y="2607468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73240" y="2607468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62068" y="2607468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453413" y="2607468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183731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93862" y="3183731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73240" y="3183731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2068" y="3183731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53413" y="3183731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3759993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93862" y="3759993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73240" y="3759993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2068" y="3759993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53413" y="3759993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4336256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93862" y="4336256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73240" y="4336256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2068" y="4336256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53413" y="4336256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1025" y="4912518"/>
            <a:ext cx="15128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93862" y="4912518"/>
            <a:ext cx="2879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73240" y="4912518"/>
            <a:ext cx="228882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62068" y="4912518"/>
            <a:ext cx="219134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53413" y="4912518"/>
            <a:ext cx="21575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43" y="2785587"/>
            <a:ext cx="609600" cy="2619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3384520"/>
            <a:ext cx="752475" cy="261937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23" y="3905725"/>
            <a:ext cx="838200" cy="26193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19" y="4493418"/>
            <a:ext cx="733425" cy="261937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119" y="5079206"/>
            <a:ext cx="1095375" cy="2619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Role-Based Access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225"/>
            <a:ext cx="2590800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562225"/>
            <a:ext cx="2590800" cy="2447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562225"/>
            <a:ext cx="2590800" cy="2447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562225"/>
            <a:ext cx="2590800" cy="2447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38450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76675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Live overview of open orders, workload volume, defect averages, and bottleneck indicators.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2838450"/>
            <a:ext cx="514350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290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Arrivals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3876675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Container check-in, physical receiving checklists, and SAP pending queue synchronization.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838450"/>
            <a:ext cx="51435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Quality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876675"/>
            <a:ext cx="2114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Material sample entry, physical readings, standardized defect logging, and photo evidence.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825" y="2838450"/>
            <a:ext cx="514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7825" y="3543300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Claims &amp;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825" y="3876675"/>
            <a:ext cx="21145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Raise quality claims against suppliers, generate dynamic pivot tables, and export executive PDF reports.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7" y="2971800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8087" y="2971800"/>
            <a:ext cx="2762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1775" y="2971800"/>
            <a:ext cx="2476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0" y="2971800"/>
            <a:ext cx="19050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Core Platform Modules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5068"/>
            <a:ext cx="3530649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55068"/>
            <a:ext cx="3530649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55068"/>
            <a:ext cx="3530649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31293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4361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For Inspectors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69518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Always initiate inspection from real SAP containers. Complete receiving checklists fully before creating quality orders. Attach crisp photo evidence for all defects and submit without delay.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731293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4361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For Supervisors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69518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Verify physical readings against logged defects prior to finishing orders. Send back incomplete entries with clear instructions. Monitor dashboard metrics daily for defect trends.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731293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436143"/>
            <a:ext cx="320711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Outfit SemiBold"/>
              </a:rPr>
              <a:t>System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69518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Enforce principle of least privilege for security roles. Maintain up-to-date defect catalogues and reading parameters. Perform routine audit log reviews and maintain company logins.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7" y="2864643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87" y="2864643"/>
            <a:ext cx="3143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2864643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Best Practices &amp; Governance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86250"/>
            <a:ext cx="11049000" cy="1123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2175"/>
            <a:ext cx="35305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162175"/>
            <a:ext cx="3530649" cy="1838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162175"/>
            <a:ext cx="3530500" cy="1838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4486275"/>
            <a:ext cx="10981372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59669"/>
                </a:solidFill>
                <a:latin typeface="Outfit SemiBold"/>
              </a:rPr>
              <a:t>On The Horizon (Future Releases)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781550"/>
            <a:ext cx="10458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Mobile-friendly floor capture on tablets &amp; handhelds • Advanced predictive defect analytics • Automated SAP trigger notifications • Multi-branch regional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457450"/>
            <a:ext cx="305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59669"/>
                </a:solidFill>
                <a:latin typeface="Outfit ExtraBold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105150"/>
            <a:ext cx="305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Digital Traceability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62325"/>
            <a:ext cx="3054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End-to-end audit log from SAP arrival to report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2457450"/>
            <a:ext cx="305439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59669"/>
                </a:solidFill>
                <a:latin typeface="Outfit ExtraBol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725" y="3105150"/>
            <a:ext cx="30543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Manual Re-Typing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725" y="3362325"/>
            <a:ext cx="30543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Direct OData sync eliminates duplicate container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7975" y="2457450"/>
            <a:ext cx="305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59669"/>
                </a:solidFill>
                <a:latin typeface="Outfit ExtraBold"/>
              </a:rPr>
              <a:t>15+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7975" y="3105150"/>
            <a:ext cx="3054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Plus Jakarta Sans SemiBold"/>
              </a:rPr>
              <a:t>Cold Storage Facilities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7975" y="3362325"/>
            <a:ext cx="3054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Standardized inspection protocols across Saudi Arabia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51485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Impact &amp; Future Roadmap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004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7312" y="3776662"/>
            <a:ext cx="9477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Thank you for your dedication to maintaining Sharbatly's high standard of fresh produce quality.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675" y="4376737"/>
            <a:ext cx="4438650" cy="523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0" y="4538662"/>
            <a:ext cx="1695450" cy="2000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59669"/>
                </a:solidFill>
                <a:latin typeface="Plus Jakarta Sans SemiBold"/>
              </a:rPr>
              <a:t>Enterprise MIS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050" y="4538662"/>
            <a:ext cx="57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59669"/>
                </a:solidFill>
                <a:latin typeface="Plus Jakarta Sans SemiBold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38662"/>
            <a:ext cx="1600200" cy="2000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59669"/>
                </a:solidFill>
                <a:latin typeface="Plus Jakarta Sans SemiBold"/>
              </a:rPr>
              <a:t>QMS Support Team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4567237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6723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 2"/>
          <p:cNvSpPr/>
          <p:nvPr/>
        </p:nvSpPr>
        <p:spPr>
          <a:xfrm>
            <a:off x="502920" y="38404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5966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Outfit"/>
              </a:rPr>
              <a:t>Q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1078992" y="36576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Configuration &amp; Audit Trail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78992" y="91440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 u="none">
                <a:solidFill>
                  <a:srgbClr val="64748B"/>
                </a:solidFill>
                <a:latin typeface="Plus Jakarta Sans"/>
              </a:rPr>
              <a:t>Admins tailor the catalogues and parameters, and every change is permanently logged.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Defect Catalogue &amp; Parameters</a:t>
            </a:r>
          </a:p>
        </p:txBody>
      </p:sp>
      <p:sp>
        <p:nvSpPr>
          <p:cNvPr id="6" name="Card 6"/>
          <p:cNvSpPr/>
          <p:nvPr/>
        </p:nvSpPr>
        <p:spPr>
          <a:xfrm>
            <a:off x="502920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8"/>
          <p:cNvSpPr txBox="1"/>
          <p:nvPr/>
        </p:nvSpPr>
        <p:spPr>
          <a:xfrm>
            <a:off x="6339535" y="1225296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 i="0" u="none">
                <a:solidFill>
                  <a:srgbClr val="059669"/>
                </a:solidFill>
                <a:latin typeface="Plus Jakarta Sans"/>
              </a:rPr>
              <a:t>Audit Trail — Every Change Logged</a:t>
            </a:r>
          </a:p>
        </p:txBody>
      </p:sp>
      <p:sp>
        <p:nvSpPr>
          <p:cNvPr id="9" name="Card 9"/>
          <p:cNvSpPr/>
          <p:nvPr/>
        </p:nvSpPr>
        <p:spPr>
          <a:xfrm>
            <a:off x="6339535" y="1554480"/>
            <a:ext cx="5349240" cy="3611880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90000" dist="38100" dir="5400000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 u="none">
                <a:solidFill>
                  <a:srgbClr val="94A3B8"/>
                </a:solidFill>
                <a:latin typeface="Plus Jakarta Sans"/>
              </a:rPr>
              <a:t>Live screenshots from the Sharbatly QMS production system.</a:t>
            </a:r>
          </a:p>
        </p:txBody>
      </p:sp>
      <p:pic>
        <p:nvPicPr>
          <p:cNvPr id="12" name="Picture 11" descr="admin-defectcat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928654"/>
            <a:ext cx="5093208" cy="2863531"/>
          </a:xfrm>
          <a:prstGeom prst="rect">
            <a:avLst/>
          </a:prstGeom>
        </p:spPr>
      </p:pic>
      <p:pic>
        <p:nvPicPr>
          <p:cNvPr id="13" name="Picture 12" descr="audit-in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551" y="1928654"/>
            <a:ext cx="5093208" cy="2863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1053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Outfit</vt:lpstr>
      <vt:lpstr>Outfit ExtraBold</vt:lpstr>
      <vt:lpstr>Outfit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Tag</cp:lastModifiedBy>
  <cp:revision>2</cp:revision>
  <dcterms:created xsi:type="dcterms:W3CDTF">2013-01-27T09:14:16Z</dcterms:created>
  <dcterms:modified xsi:type="dcterms:W3CDTF">2026-08-02T13:28:20Z</dcterms:modified>
  <cp:category/>
</cp:coreProperties>
</file>